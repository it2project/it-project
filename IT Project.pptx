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2" r:id="rId4"/>
    <p:sldId id="270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152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>
            <a:spLocks noGrp="1"/>
          </p:cNvSpPr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>
            <a:spLocks noGrp="1"/>
          </p:cNvSpPr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2" name="Heron flying low over a beach with a short fence in the foreground"/>
          <p:cNvSpPr>
            <a:spLocks noGrp="1"/>
          </p:cNvSpPr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View of beach and sea from a grassy sand dune"/>
          <p:cNvSpPr>
            <a:spLocks noGrp="1"/>
          </p:cNvSpPr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112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roject charter"/>
          <p:cNvSpPr txBox="1">
            <a:spLocks noGrp="1"/>
          </p:cNvSpPr>
          <p:nvPr>
            <p:ph type="ctrTitle"/>
          </p:nvPr>
        </p:nvSpPr>
        <p:spPr>
          <a:xfrm>
            <a:off x="-6802562" y="484760"/>
            <a:ext cx="20579482" cy="1080675"/>
          </a:xfrm>
          <a:prstGeom prst="rect">
            <a:avLst/>
          </a:prstGeom>
        </p:spPr>
        <p:txBody>
          <a:bodyPr/>
          <a:lstStyle>
            <a:lvl1pPr defTabSz="470534">
              <a:defRPr sz="6384"/>
            </a:lvl1pPr>
          </a:lstStyle>
          <a:p>
            <a:r>
              <a:rPr dirty="0"/>
              <a:t>Project charter</a:t>
            </a:r>
          </a:p>
        </p:txBody>
      </p:sp>
      <p:sp>
        <p:nvSpPr>
          <p:cNvPr id="138" name="Date :…"/>
          <p:cNvSpPr txBox="1">
            <a:spLocks noGrp="1"/>
          </p:cNvSpPr>
          <p:nvPr>
            <p:ph type="subTitle" sz="quarter" idx="1"/>
          </p:nvPr>
        </p:nvSpPr>
        <p:spPr>
          <a:xfrm>
            <a:off x="16739674" y="425096"/>
            <a:ext cx="7517715" cy="120000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defTabSz="553084">
              <a:defRPr sz="3618"/>
            </a:pPr>
            <a:r>
              <a:t>Date :</a:t>
            </a:r>
          </a:p>
          <a:p>
            <a:pPr defTabSz="553084">
              <a:defRPr sz="3618"/>
            </a:pPr>
            <a:r>
              <a:t>Name : </a:t>
            </a:r>
          </a:p>
        </p:txBody>
      </p:sp>
      <p:sp>
        <p:nvSpPr>
          <p:cNvPr id="139" name="Project Title:…"/>
          <p:cNvSpPr txBox="1"/>
          <p:nvPr/>
        </p:nvSpPr>
        <p:spPr>
          <a:xfrm>
            <a:off x="717238" y="1816767"/>
            <a:ext cx="3165931" cy="2041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0"/>
              </a:spcBef>
              <a:defRPr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dirty="0"/>
              <a:t>Project Title:</a:t>
            </a:r>
            <a:endParaRPr lang="ar-SA" b="1" dirty="0"/>
          </a:p>
          <a:p>
            <a:pPr defTabSz="457200">
              <a:spcBef>
                <a:spcPts val="0"/>
              </a:spcBef>
              <a:defRPr sz="4200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  <a:p>
            <a:pPr defTabSz="457200">
              <a:spcBef>
                <a:spcPts val="0"/>
              </a:spcBef>
              <a:defRPr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dirty="0"/>
              <a:t>IT Project</a:t>
            </a:r>
            <a:endParaRPr dirty="0"/>
          </a:p>
        </p:txBody>
      </p:sp>
      <p:sp>
        <p:nvSpPr>
          <p:cNvPr id="140" name="Business Case…"/>
          <p:cNvSpPr txBox="1"/>
          <p:nvPr/>
        </p:nvSpPr>
        <p:spPr>
          <a:xfrm>
            <a:off x="708003" y="3939010"/>
            <a:ext cx="7851797" cy="4103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3800" b="1" dirty="0"/>
              <a:t>Business Case</a:t>
            </a:r>
            <a:r>
              <a:rPr sz="1700" b="1" dirty="0"/>
              <a:t> </a:t>
            </a:r>
          </a:p>
          <a:p>
            <a:pPr defTabSz="457200">
              <a:spcBef>
                <a:spcPts val="1200"/>
              </a:spcBef>
              <a:defRPr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Delivering IT projects on time and within budget is critical. Delays and requirement changes increase costs and damage client trust. Improving this drives higher revenue and the ability to scale.</a:t>
            </a:r>
          </a:p>
          <a:p>
            <a:pPr defTabSz="457200">
              <a:spcBef>
                <a:spcPts val="1200"/>
              </a:spcBef>
              <a:defRPr sz="4200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  <p:sp>
        <p:nvSpPr>
          <p:cNvPr id="141" name="Problem Statement (Data-based)…"/>
          <p:cNvSpPr txBox="1"/>
          <p:nvPr/>
        </p:nvSpPr>
        <p:spPr>
          <a:xfrm>
            <a:off x="760360" y="7478724"/>
            <a:ext cx="9907640" cy="2995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dirty="0"/>
              <a:t>Problem Statement (Data-based)</a:t>
            </a:r>
            <a:endParaRPr lang="ar-SA" dirty="0"/>
          </a:p>
          <a:p>
            <a:pPr defTabSz="457200">
              <a:spcBef>
                <a:spcPts val="1200"/>
              </a:spcBef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altLang="en-US" sz="3600" dirty="0">
                <a:solidFill>
                  <a:schemeClr val="tx1"/>
                </a:solidFill>
                <a:latin typeface="Arial" panose="020B0604020202020204" pitchFamily="34" charset="0"/>
              </a:rPr>
              <a:t>Project is 3 months over schedule with 30% budget overrun and 45% rise in change requests, causing rework and client dissatisfaction.</a:t>
            </a:r>
          </a:p>
        </p:txBody>
      </p:sp>
      <p:sp>
        <p:nvSpPr>
          <p:cNvPr id="142" name="Goal Statement (SMART)…"/>
          <p:cNvSpPr txBox="1"/>
          <p:nvPr/>
        </p:nvSpPr>
        <p:spPr>
          <a:xfrm>
            <a:off x="710377" y="10756630"/>
            <a:ext cx="18172639" cy="2626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dirty="0"/>
              <a:t>Goal Statement (SMART)</a:t>
            </a:r>
            <a:endParaRPr lang="ar-SA" b="1" dirty="0"/>
          </a:p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altLang="en-US" sz="3600" dirty="0">
                <a:solidFill>
                  <a:schemeClr val="tx1"/>
                </a:solidFill>
                <a:latin typeface="Arial" panose="020B0604020202020204" pitchFamily="34" charset="0"/>
              </a:rPr>
              <a:t>Reduce project duration from 9 to 6 months and budget variance from 30% to under 10%</a:t>
            </a:r>
            <a:r>
              <a:rPr lang="ar-SA" altLang="en-US" sz="3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r>
              <a:rPr lang="en-US" altLang="en-US" sz="3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endParaRPr lang="en-GB" dirty="0"/>
          </a:p>
        </p:txBody>
      </p:sp>
      <p:graphicFrame>
        <p:nvGraphicFramePr>
          <p:cNvPr id="143" name="Table 1"/>
          <p:cNvGraphicFramePr/>
          <p:nvPr>
            <p:extLst>
              <p:ext uri="{D42A27DB-BD31-4B8C-83A1-F6EECF244321}">
                <p14:modId xmlns:p14="http://schemas.microsoft.com/office/powerpoint/2010/main" val="2101464480"/>
              </p:ext>
            </p:extLst>
          </p:nvPr>
        </p:nvGraphicFramePr>
        <p:xfrm>
          <a:off x="9108310" y="2264706"/>
          <a:ext cx="15149079" cy="4003152"/>
        </p:xfrm>
        <a:graphic>
          <a:graphicData uri="http://schemas.openxmlformats.org/drawingml/2006/table">
            <a:tbl>
              <a:tblPr firstCol="1" bandRow="1">
                <a:tableStyleId>{4C3C2611-4C71-4FC5-86AE-919BDF0F9419}</a:tableStyleId>
              </a:tblPr>
              <a:tblGrid>
                <a:gridCol w="1895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9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2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77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5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84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83756">
                  <a:extLst>
                    <a:ext uri="{9D8B030D-6E8A-4147-A177-3AD203B41FA5}">
                      <a16:colId xmlns:a16="http://schemas.microsoft.com/office/drawing/2014/main" val="2710344442"/>
                    </a:ext>
                  </a:extLst>
                </a:gridCol>
              </a:tblGrid>
              <a:tr h="924616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People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T w="12700">
                      <a:solidFill>
                        <a:srgbClr val="B8B8B8"/>
                      </a:solidFill>
                      <a:miter lim="400000"/>
                    </a:lnT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 cap="flat" cmpd="sng" algn="ctr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  <a:headEnd type="none" w="med" len="med"/>
                      <a:tailEnd type="none" w="med" len="med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GB" sz="3200" dirty="0">
                          <a:sym typeface="Helvetica Neue"/>
                        </a:rPr>
                        <a:t>6</a:t>
                      </a:r>
                      <a:endParaRPr sz="3200" dirty="0">
                        <a:sym typeface="Helvetica Neue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4616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Name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Jaser</a:t>
                      </a:r>
                      <a:endParaRPr dirty="0"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Yazeed</a:t>
                      </a:r>
                      <a:endParaRPr dirty="0"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Faisal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Ibrahim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Mohammed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 cap="flat" cmpd="sng" algn="ctr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Abdullah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4616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Role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B w="12700">
                      <a:solidFill>
                        <a:srgbClr val="B8B8B8"/>
                      </a:solidFill>
                      <a:miter lim="400000"/>
                    </a:lnB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IT Support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Project Manager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Developer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Senior Manager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External Vendor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 cap="flat" cmpd="sng" algn="ctr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  <a:headEnd type="none" w="med" len="med"/>
                      <a:tailEnd type="none" w="med" len="med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Business User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4616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Tasks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Maintains system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resources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Build System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Approve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Technical expertise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 cap="flat" cmpd="sng" algn="ctr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  <a:headEnd type="none" w="med" len="med"/>
                      <a:tailEnd type="none" w="med" len="med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Use the System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4" name="Table 1-1"/>
          <p:cNvGraphicFramePr/>
          <p:nvPr>
            <p:extLst>
              <p:ext uri="{D42A27DB-BD31-4B8C-83A1-F6EECF244321}">
                <p14:modId xmlns:p14="http://schemas.microsoft.com/office/powerpoint/2010/main" val="2007546181"/>
              </p:ext>
            </p:extLst>
          </p:nvPr>
        </p:nvGraphicFramePr>
        <p:xfrm>
          <a:off x="10975656" y="6743294"/>
          <a:ext cx="12268751" cy="3698463"/>
        </p:xfrm>
        <a:graphic>
          <a:graphicData uri="http://schemas.openxmlformats.org/drawingml/2006/table">
            <a:tbl>
              <a:tblPr firstCol="1" bandRow="1">
                <a:tableStyleId>{4C3C2611-4C71-4FC5-86AE-919BDF0F9419}</a:tableStyleId>
              </a:tblPr>
              <a:tblGrid>
                <a:gridCol w="2138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4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4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4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447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3282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Scope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T w="12700">
                      <a:solidFill>
                        <a:srgbClr val="B8B8B8"/>
                      </a:solidFill>
                      <a:miter lim="400000"/>
                    </a:lnT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82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In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requirement </a:t>
                      </a:r>
                      <a:endParaRPr dirty="0"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Goals</a:t>
                      </a:r>
                      <a:endParaRPr dirty="0"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Developers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Changing request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 err="1"/>
                        <a:t>Delivary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282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Out of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B w="12700">
                      <a:solidFill>
                        <a:srgbClr val="B8B8B8"/>
                      </a:solidFill>
                      <a:miter lim="400000"/>
                    </a:lnB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roblem statement"/>
          <p:cNvSpPr txBox="1">
            <a:spLocks noGrp="1"/>
          </p:cNvSpPr>
          <p:nvPr>
            <p:ph type="ctrTitle"/>
          </p:nvPr>
        </p:nvSpPr>
        <p:spPr>
          <a:xfrm>
            <a:off x="-6048252" y="484760"/>
            <a:ext cx="20579482" cy="1080675"/>
          </a:xfrm>
          <a:prstGeom prst="rect">
            <a:avLst/>
          </a:prstGeom>
        </p:spPr>
        <p:txBody>
          <a:bodyPr/>
          <a:lstStyle>
            <a:lvl1pPr defTabSz="470534">
              <a:defRPr sz="6384"/>
            </a:lvl1pPr>
          </a:lstStyle>
          <a:p>
            <a:r>
              <a:t>Problem statement </a:t>
            </a:r>
          </a:p>
        </p:txBody>
      </p:sp>
      <p:sp>
        <p:nvSpPr>
          <p:cNvPr id="147" name="Date :…"/>
          <p:cNvSpPr txBox="1">
            <a:spLocks noGrp="1"/>
          </p:cNvSpPr>
          <p:nvPr>
            <p:ph type="subTitle" sz="quarter" idx="1"/>
          </p:nvPr>
        </p:nvSpPr>
        <p:spPr>
          <a:xfrm>
            <a:off x="16739674" y="425096"/>
            <a:ext cx="7517715" cy="120000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defTabSz="553084">
              <a:defRPr sz="3618"/>
            </a:pPr>
            <a:r>
              <a:t>Date :</a:t>
            </a:r>
          </a:p>
          <a:p>
            <a:pPr defTabSz="553084">
              <a:defRPr sz="3618"/>
            </a:pPr>
            <a:r>
              <a:t>Name : </a:t>
            </a:r>
          </a:p>
        </p:txBody>
      </p:sp>
      <p:sp>
        <p:nvSpPr>
          <p:cNvPr id="148" name="Problem Description…"/>
          <p:cNvSpPr txBox="1"/>
          <p:nvPr/>
        </p:nvSpPr>
        <p:spPr>
          <a:xfrm>
            <a:off x="974663" y="3032620"/>
            <a:ext cx="20947383" cy="3180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3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Problem Description</a:t>
            </a:r>
          </a:p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What is happening? Where is it happening? How big is the problem?</a:t>
            </a:r>
          </a:p>
          <a:p>
            <a:pPr defTabSz="457200">
              <a:spcBef>
                <a:spcPts val="1200"/>
              </a:spcBef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  <a:p>
            <a:pPr defTabSz="457200">
              <a:spcBef>
                <a:spcPts val="1200"/>
              </a:spcBef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dirty="0"/>
              <a:t>IT project is 3 months over schedule with 30% budget overrun. Requirements changed post-approval, bugs found late in UAT, and teams were not involved early  causing rework and misaligned delivery.</a:t>
            </a:r>
          </a:p>
        </p:txBody>
      </p:sp>
      <p:sp>
        <p:nvSpPr>
          <p:cNvPr id="149" name="DATA…"/>
          <p:cNvSpPr txBox="1"/>
          <p:nvPr/>
        </p:nvSpPr>
        <p:spPr>
          <a:xfrm>
            <a:off x="1061001" y="8175302"/>
            <a:ext cx="16997367" cy="2351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3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DATA</a:t>
            </a:r>
            <a:endParaRPr sz="1700" dirty="0"/>
          </a:p>
          <a:p>
            <a:pPr defTabSz="457200">
              <a:spcBef>
                <a:spcPts val="1200"/>
              </a:spcBef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700" i="1" dirty="0"/>
              <a:t>CURRENT PREFORMANCE</a:t>
            </a:r>
          </a:p>
          <a:p>
            <a:pPr defTabSz="914400">
              <a:defRPr sz="3200">
                <a:sym typeface="Helvetica Neue"/>
              </a:defRPr>
            </a:pPr>
            <a:r>
              <a:rPr lang="en-GB" dirty="0"/>
              <a:t>Requirements changed post-approval, bugs found late in UAT</a:t>
            </a:r>
          </a:p>
        </p:txBody>
      </p:sp>
      <p:sp>
        <p:nvSpPr>
          <p:cNvPr id="150" name="IMPACT…"/>
          <p:cNvSpPr txBox="1"/>
          <p:nvPr/>
        </p:nvSpPr>
        <p:spPr>
          <a:xfrm>
            <a:off x="1036221" y="10908730"/>
            <a:ext cx="18172639" cy="1887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IMPACT </a:t>
            </a:r>
          </a:p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400" i="1" dirty="0"/>
              <a:t>Financial</a:t>
            </a:r>
            <a:endParaRPr sz="1900" i="1" dirty="0"/>
          </a:p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dirty="0"/>
              <a:t>30% budget overrun</a:t>
            </a:r>
            <a:endParaRPr dirty="0"/>
          </a:p>
        </p:txBody>
      </p:sp>
      <p:sp>
        <p:nvSpPr>
          <p:cNvPr id="151" name="TARGET PREFORMANCE…"/>
          <p:cNvSpPr txBox="1"/>
          <p:nvPr/>
        </p:nvSpPr>
        <p:spPr>
          <a:xfrm>
            <a:off x="12927157" y="9088642"/>
            <a:ext cx="16997367" cy="116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700" i="1" dirty="0"/>
              <a:t>TARGET PREFORMANCE</a:t>
            </a:r>
            <a:endParaRPr lang="en-GB" sz="1700" i="1" dirty="0"/>
          </a:p>
          <a:p>
            <a:pPr defTabSz="457200">
              <a:spcBef>
                <a:spcPts val="1200"/>
              </a:spcBef>
              <a:defRPr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dirty="0"/>
              <a:t>Promoting communication</a:t>
            </a:r>
          </a:p>
        </p:txBody>
      </p:sp>
      <p:sp>
        <p:nvSpPr>
          <p:cNvPr id="152" name="Operational…"/>
          <p:cNvSpPr txBox="1"/>
          <p:nvPr/>
        </p:nvSpPr>
        <p:spPr>
          <a:xfrm>
            <a:off x="12970049" y="11509956"/>
            <a:ext cx="10311862" cy="1179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2400" i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Operational </a:t>
            </a:r>
            <a:endParaRPr sz="1900" dirty="0"/>
          </a:p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dirty="0"/>
              <a:t>3-month delay</a:t>
            </a: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 1-1"/>
          <p:cNvGraphicFramePr/>
          <p:nvPr>
            <p:extLst>
              <p:ext uri="{D42A27DB-BD31-4B8C-83A1-F6EECF244321}">
                <p14:modId xmlns:p14="http://schemas.microsoft.com/office/powerpoint/2010/main" val="2979454556"/>
              </p:ext>
            </p:extLst>
          </p:nvPr>
        </p:nvGraphicFramePr>
        <p:xfrm>
          <a:off x="1396946" y="3130448"/>
          <a:ext cx="22065877" cy="9722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250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Suppliers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Input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Process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Output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Customer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dirty="0"/>
                        <a:t>Customer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Requirements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Clear Requirements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Customer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dirty="0"/>
                        <a:t>Developers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Apply Requirements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Built System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Customer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dirty="0"/>
                        <a:t>Project Manager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Project Follow-up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Project Stage Results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Developer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dirty="0"/>
                        <a:t>External Vendor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Data Entry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Delivered to Beneficiary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Beneficiary Company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dirty="0"/>
                        <a:t>Senior Manager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Project Details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Project Approval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Project Manager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dirty="0"/>
                        <a:t>IT Support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Support Ticket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 dirty="0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Resolved Ticket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B8B8B8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dirty="0"/>
                        <a:t>Customer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5" name="SIPOC"/>
          <p:cNvSpPr txBox="1">
            <a:spLocks noGrp="1"/>
          </p:cNvSpPr>
          <p:nvPr>
            <p:ph type="title"/>
          </p:nvPr>
        </p:nvSpPr>
        <p:spPr>
          <a:xfrm>
            <a:off x="-7587687" y="58738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t>SIPOC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" name="Table 1-1"/>
          <p:cNvGraphicFramePr/>
          <p:nvPr>
            <p:extLst>
              <p:ext uri="{D42A27DB-BD31-4B8C-83A1-F6EECF244321}">
                <p14:modId xmlns:p14="http://schemas.microsoft.com/office/powerpoint/2010/main" val="4273837946"/>
              </p:ext>
            </p:extLst>
          </p:nvPr>
        </p:nvGraphicFramePr>
        <p:xfrm>
          <a:off x="1362736" y="1976088"/>
          <a:ext cx="22065877" cy="9931544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3242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9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2203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sym typeface="Helvetica Neue"/>
                        </a:rPr>
                        <a:t>SOURCE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RAW VOC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WHY ?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Direct</a:t>
                      </a:r>
                      <a:endParaRPr b="1"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 </a:t>
                      </a:r>
                      <a:r>
                        <a:rPr dirty="0"/>
                        <a:t>The project is taking too long</a:t>
                      </a:r>
                      <a:r>
                        <a:rPr lang="en-GB" dirty="0"/>
                        <a:t>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Requirements change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Direct</a:t>
                      </a:r>
                      <a:endParaRPr b="1"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 </a:t>
                      </a:r>
                      <a:r>
                        <a:rPr dirty="0"/>
                        <a:t>Requirements keep changing</a:t>
                      </a:r>
                      <a:r>
                        <a:rPr lang="en-GB" dirty="0"/>
                        <a:t>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Unclear goal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Direct</a:t>
                      </a:r>
                      <a:endParaRPr b="1"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 </a:t>
                      </a:r>
                      <a:r>
                        <a:rPr dirty="0"/>
                        <a:t>The system has too many bugs</a:t>
                      </a:r>
                      <a:r>
                        <a:rPr lang="en-GB" dirty="0"/>
                        <a:t>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No testing done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Direct</a:t>
                      </a:r>
                      <a:endParaRPr b="1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 </a:t>
                      </a:r>
                      <a:r>
                        <a:rPr dirty="0"/>
                        <a:t>No one explained how to use the system</a:t>
                      </a:r>
                      <a:r>
                        <a:rPr lang="en-GB" dirty="0"/>
                        <a:t>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dirty="0"/>
                        <a:t>Poor training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Direct</a:t>
                      </a:r>
                      <a:endParaRPr b="1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 </a:t>
                      </a:r>
                      <a:r>
                        <a:rPr dirty="0"/>
                        <a:t>We were not involved early</a:t>
                      </a:r>
                      <a:r>
                        <a:rPr lang="en-GB" dirty="0"/>
                        <a:t>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Due to requirements change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Direct</a:t>
                      </a:r>
                      <a:endParaRPr b="1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 </a:t>
                      </a:r>
                      <a:r>
                        <a:rPr dirty="0"/>
                        <a:t>The system doesn't match our needs</a:t>
                      </a:r>
                      <a:r>
                        <a:rPr lang="en-GB" dirty="0"/>
                        <a:t>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Misunderstanding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Direct</a:t>
                      </a:r>
                      <a:endParaRPr b="1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 </a:t>
                      </a:r>
                      <a:r>
                        <a:rPr dirty="0"/>
                        <a:t>Issues are not resolved quickly</a:t>
                      </a:r>
                      <a:r>
                        <a:rPr lang="en-GB" dirty="0"/>
                        <a:t>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Poor communication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Direct</a:t>
                      </a:r>
                      <a:endParaRPr b="1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 </a:t>
                      </a:r>
                      <a:r>
                        <a:rPr dirty="0"/>
                        <a:t>The system is slow</a:t>
                      </a:r>
                      <a:r>
                        <a:rPr lang="en-GB" dirty="0"/>
                        <a:t>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High user load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Direct</a:t>
                      </a:r>
                      <a:endParaRPr b="1"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 </a:t>
                      </a:r>
                      <a:r>
                        <a:rPr dirty="0"/>
                        <a:t>The final result is disappointing</a:t>
                      </a:r>
                      <a:r>
                        <a:rPr lang="en-GB" dirty="0"/>
                        <a:t> 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Misunderstanding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8" name="VOC"/>
          <p:cNvSpPr txBox="1">
            <a:spLocks noGrp="1"/>
          </p:cNvSpPr>
          <p:nvPr>
            <p:ph type="title"/>
          </p:nvPr>
        </p:nvSpPr>
        <p:spPr>
          <a:xfrm>
            <a:off x="-7587687" y="58738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t>VOC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E4919-C7C7-99E8-5FD7-6E5FE60F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" name="Table 1-1">
            <a:extLst>
              <a:ext uri="{FF2B5EF4-FFF2-40B4-BE49-F238E27FC236}">
                <a16:creationId xmlns:a16="http://schemas.microsoft.com/office/drawing/2014/main" id="{85398F4E-61B4-575C-A6EF-15DA9D0EE6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396435"/>
              </p:ext>
            </p:extLst>
          </p:nvPr>
        </p:nvGraphicFramePr>
        <p:xfrm>
          <a:off x="1362736" y="1976088"/>
          <a:ext cx="22065877" cy="10245815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3242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9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2203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SOURCE</a:t>
                      </a:r>
                      <a:endParaRPr sz="3200" b="1" dirty="0">
                        <a:solidFill>
                          <a:srgbClr val="FFFFFF"/>
                        </a:solidFill>
                        <a:sym typeface="Helvetica Neue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RAW VOC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WHY ?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Indirect</a:t>
                      </a:r>
                      <a:endParaRPr b="1"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Submit repeated change requests after requirements sign-off (+45%) Delay approvals due to unclear requirements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Requirements change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Indirect</a:t>
                      </a:r>
                      <a:endParaRPr b="1"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Report issues late during UAT (late defect discovery)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Delayed issue resolution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Indirect</a:t>
                      </a:r>
                      <a:endParaRPr b="1"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Use workarounds instead of system features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Using different methods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Indirect</a:t>
                      </a:r>
                      <a:endParaRPr b="1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Log multiple support tickets for the same issue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System bugs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Indirect</a:t>
                      </a:r>
                      <a:endParaRPr b="1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Avoid using new system modules (low adoption)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No user manual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Indirect</a:t>
                      </a:r>
                      <a:endParaRPr b="1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Escalate issues frequently to management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Lack of technical support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Indirect</a:t>
                      </a:r>
                      <a:endParaRPr b="1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Re-open previously “closed” issues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Unresolved issues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Indirect</a:t>
                      </a:r>
                      <a:endParaRPr b="1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Spend extra time completing tasks (low efficiency)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Process redesign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kumimoji="0" lang="en-GB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 Light"/>
                        </a:rPr>
                        <a:t>Indirect</a:t>
                      </a:r>
                      <a:endParaRPr b="1"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Continue using legacy systems in parallel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rPr lang="en-GB" dirty="0"/>
                        <a:t>Dependency on old system</a:t>
                      </a: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8" name="VOC">
            <a:extLst>
              <a:ext uri="{FF2B5EF4-FFF2-40B4-BE49-F238E27FC236}">
                <a16:creationId xmlns:a16="http://schemas.microsoft.com/office/drawing/2014/main" id="{D68FF1D4-CE70-2E13-C3B3-E68E029928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7587687" y="58738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t>VOC</a:t>
            </a:r>
          </a:p>
        </p:txBody>
      </p:sp>
    </p:spTree>
    <p:extLst>
      <p:ext uri="{BB962C8B-B14F-4D97-AF65-F5344CB8AC3E}">
        <p14:creationId xmlns:p14="http://schemas.microsoft.com/office/powerpoint/2010/main" val="221165118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VOC TO CTQ"/>
          <p:cNvSpPr txBox="1">
            <a:spLocks noGrp="1"/>
          </p:cNvSpPr>
          <p:nvPr>
            <p:ph type="title"/>
          </p:nvPr>
        </p:nvSpPr>
        <p:spPr>
          <a:xfrm>
            <a:off x="-6492977" y="58738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t>VOC TO CTQ</a:t>
            </a:r>
          </a:p>
        </p:txBody>
      </p:sp>
      <p:graphicFrame>
        <p:nvGraphicFramePr>
          <p:cNvPr id="161" name="Table 1-1"/>
          <p:cNvGraphicFramePr/>
          <p:nvPr/>
        </p:nvGraphicFramePr>
        <p:xfrm>
          <a:off x="1396946" y="3130448"/>
          <a:ext cx="22065877" cy="9722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250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VOC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NEED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CTQ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METRIC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TARGET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VOC TO CTQ"/>
          <p:cNvSpPr txBox="1">
            <a:spLocks noGrp="1"/>
          </p:cNvSpPr>
          <p:nvPr>
            <p:ph type="title"/>
          </p:nvPr>
        </p:nvSpPr>
        <p:spPr>
          <a:xfrm>
            <a:off x="-6492977" y="58738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t>VOC TO CTQ</a:t>
            </a:r>
          </a:p>
        </p:txBody>
      </p:sp>
      <p:graphicFrame>
        <p:nvGraphicFramePr>
          <p:cNvPr id="164" name="Table 1-1"/>
          <p:cNvGraphicFramePr/>
          <p:nvPr/>
        </p:nvGraphicFramePr>
        <p:xfrm>
          <a:off x="1396946" y="3130448"/>
          <a:ext cx="22065877" cy="9722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250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VOC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NEED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CTQ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METRIC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TARGET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TAKEHOLDER ANALYSIS"/>
          <p:cNvSpPr txBox="1">
            <a:spLocks noGrp="1"/>
          </p:cNvSpPr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t>STAKEHOLDER ANALYSIS</a:t>
            </a:r>
          </a:p>
        </p:txBody>
      </p:sp>
      <p:graphicFrame>
        <p:nvGraphicFramePr>
          <p:cNvPr id="167" name="Table 1-1"/>
          <p:cNvGraphicFramePr/>
          <p:nvPr/>
        </p:nvGraphicFramePr>
        <p:xfrm>
          <a:off x="1396946" y="3130448"/>
          <a:ext cx="22065878" cy="9722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5324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0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0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3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TYPE</a:t>
                      </a:r>
                    </a:p>
                    <a:p>
                      <a:pPr defTabSz="914400">
                        <a:defRPr sz="2100">
                          <a:sym typeface="Helvetica Neue"/>
                        </a:defRPr>
                      </a:pPr>
                      <a:r>
                        <a:t> ( INTERNAL/EXTERNAL)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ROLE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INFLUENCE AREA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8" name="IDENTIFICATION"/>
          <p:cNvSpPr txBox="1"/>
          <p:nvPr/>
        </p:nvSpPr>
        <p:spPr>
          <a:xfrm>
            <a:off x="-5226017" y="1774889"/>
            <a:ext cx="17533618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IDENTIFICATION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TAKEHOLDER ANALYSIS"/>
          <p:cNvSpPr txBox="1">
            <a:spLocks noGrp="1"/>
          </p:cNvSpPr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t>STAKEHOLDER ANALYSIS</a:t>
            </a:r>
          </a:p>
        </p:txBody>
      </p:sp>
      <p:graphicFrame>
        <p:nvGraphicFramePr>
          <p:cNvPr id="171" name="Table 1-1"/>
          <p:cNvGraphicFramePr/>
          <p:nvPr/>
        </p:nvGraphicFramePr>
        <p:xfrm>
          <a:off x="1396946" y="3130448"/>
          <a:ext cx="22065877" cy="9722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250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POWER
 ( H/M/L )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INTEREST
 ( H/M/L )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IMPACT 
 ( H/M/L )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ATTITUDE </a:t>
                      </a:r>
                    </a:p>
                    <a:p>
                      <a:pPr defTabSz="914400">
                        <a:defRPr sz="1900">
                          <a:sym typeface="Helvetica Neue"/>
                        </a:defRPr>
                      </a:pPr>
                      <a:r>
                        <a:t> ( SUPPORT /NEUTRAL / RESIST )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2" name="POWER / INTEREST / IMPACT"/>
          <p:cNvSpPr txBox="1"/>
          <p:nvPr/>
        </p:nvSpPr>
        <p:spPr>
          <a:xfrm>
            <a:off x="-3447113" y="1740679"/>
            <a:ext cx="17533617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POWER / INTEREST / IMPACT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TAKEHOLDER ANALYSIS"/>
          <p:cNvSpPr txBox="1">
            <a:spLocks noGrp="1"/>
          </p:cNvSpPr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t>STAKEHOLDER ANALYSIS</a:t>
            </a:r>
          </a:p>
        </p:txBody>
      </p:sp>
      <p:graphicFrame>
        <p:nvGraphicFramePr>
          <p:cNvPr id="175" name="Table 1-1"/>
          <p:cNvGraphicFramePr/>
          <p:nvPr/>
        </p:nvGraphicFramePr>
        <p:xfrm>
          <a:off x="1396946" y="3130448"/>
          <a:ext cx="22065878" cy="9722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7127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9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9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WHAT THEY CARE ABOUT = CTQ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CONFLICT WITH OTHERS ?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6" name="VS CTQ"/>
          <p:cNvSpPr txBox="1"/>
          <p:nvPr/>
        </p:nvSpPr>
        <p:spPr>
          <a:xfrm>
            <a:off x="-6243942" y="1740679"/>
            <a:ext cx="17533618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VS CTQ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TAKEHOLDER ANALYSIS"/>
          <p:cNvSpPr txBox="1">
            <a:spLocks noGrp="1"/>
          </p:cNvSpPr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t>STAKEHOLDER ANALYSIS</a:t>
            </a:r>
          </a:p>
        </p:txBody>
      </p:sp>
      <p:graphicFrame>
        <p:nvGraphicFramePr>
          <p:cNvPr id="179" name="Table 1-1"/>
          <p:cNvGraphicFramePr/>
          <p:nvPr/>
        </p:nvGraphicFramePr>
        <p:xfrm>
          <a:off x="1396946" y="3130448"/>
          <a:ext cx="22065877" cy="9722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250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STRATEGY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FREQUENCY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COMMUNICATION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OWNER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0" name="ENGAGEMENT STRATEGY"/>
          <p:cNvSpPr txBox="1"/>
          <p:nvPr/>
        </p:nvSpPr>
        <p:spPr>
          <a:xfrm>
            <a:off x="-3908726" y="1740679"/>
            <a:ext cx="17533618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ENGAGEMENT STRATEGY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TAKEHOLDER ANALYSIS"/>
          <p:cNvSpPr txBox="1">
            <a:spLocks noGrp="1"/>
          </p:cNvSpPr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t>STAKEHOLDER ANALYSIS</a:t>
            </a:r>
          </a:p>
        </p:txBody>
      </p:sp>
      <p:graphicFrame>
        <p:nvGraphicFramePr>
          <p:cNvPr id="183" name="Table 1-1"/>
          <p:cNvGraphicFramePr/>
          <p:nvPr/>
        </p:nvGraphicFramePr>
        <p:xfrm>
          <a:off x="1396946" y="3130448"/>
          <a:ext cx="22065878" cy="9722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5324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0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0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3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FORMAL POWER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INFORMAL INFLUENCE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NETWORK STRENGTH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4" name="INFLUENCE MAP"/>
          <p:cNvSpPr txBox="1"/>
          <p:nvPr/>
        </p:nvSpPr>
        <p:spPr>
          <a:xfrm>
            <a:off x="-5157795" y="1767833"/>
            <a:ext cx="17533618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INFLUENCE MAP 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TAKEHOLDER ANALYSIS"/>
          <p:cNvSpPr txBox="1">
            <a:spLocks noGrp="1"/>
          </p:cNvSpPr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t>STAKEHOLDER ANALYSIS</a:t>
            </a:r>
          </a:p>
        </p:txBody>
      </p:sp>
      <p:graphicFrame>
        <p:nvGraphicFramePr>
          <p:cNvPr id="187" name="Table 1-1"/>
          <p:cNvGraphicFramePr/>
          <p:nvPr/>
        </p:nvGraphicFramePr>
        <p:xfrm>
          <a:off x="1396946" y="3130448"/>
          <a:ext cx="22065877" cy="9722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250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STRATEGY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FREQUENCY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COMMUNICATION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OWNER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8" name="ENGAGEMENT STRATEGY"/>
          <p:cNvSpPr txBox="1"/>
          <p:nvPr/>
        </p:nvSpPr>
        <p:spPr>
          <a:xfrm>
            <a:off x="-3908726" y="1740679"/>
            <a:ext cx="17533618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ENGAGEMENT STRATEGY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TAKEHOLDER ANALYSIS"/>
          <p:cNvSpPr txBox="1">
            <a:spLocks noGrp="1"/>
          </p:cNvSpPr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t>STAKEHOLDER ANALYSIS</a:t>
            </a:r>
          </a:p>
        </p:txBody>
      </p:sp>
      <p:graphicFrame>
        <p:nvGraphicFramePr>
          <p:cNvPr id="191" name="Table 1-1"/>
          <p:cNvGraphicFramePr/>
          <p:nvPr/>
        </p:nvGraphicFramePr>
        <p:xfrm>
          <a:off x="1396946" y="3130448"/>
          <a:ext cx="22065877" cy="97220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250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3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RISK TO PROJECT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RISK LEVEL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REASON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  <a:sym typeface="Helvetica Neue"/>
                        </a:rPr>
                        <a:t>MITIGATION STRATEGY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2" name="RISK"/>
          <p:cNvSpPr txBox="1"/>
          <p:nvPr/>
        </p:nvSpPr>
        <p:spPr>
          <a:xfrm>
            <a:off x="-6624093" y="1822140"/>
            <a:ext cx="17533617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RISK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TAKEHOLDER ANALYSIS"/>
          <p:cNvSpPr txBox="1">
            <a:spLocks noGrp="1"/>
          </p:cNvSpPr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r>
              <a:t>STAKEHOLDER ANALYSIS</a:t>
            </a:r>
          </a:p>
        </p:txBody>
      </p:sp>
      <p:graphicFrame>
        <p:nvGraphicFramePr>
          <p:cNvPr id="195" name="Table 1-1"/>
          <p:cNvGraphicFramePr/>
          <p:nvPr/>
        </p:nvGraphicFramePr>
        <p:xfrm>
          <a:off x="1159061" y="3371591"/>
          <a:ext cx="22065878" cy="8750817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7127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9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9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69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WHO MATTERS THE MOST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WHO IS RISKY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HOW YOU WILL MANAGE THEM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69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WHO WILL RESIST SILENTLY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WHO MUST YOU WIN FIRST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WHERE CONFLICT EXISTS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69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WHO LOSES FROM THIS CHANGE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WHO BENEFITS THE MOST 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WHO CAN KILL YOUR PROJECT TOMORROW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6" name="THE IDEAL ANALYSIS ANSWERS THESE QUESTIONS"/>
          <p:cNvSpPr txBox="1"/>
          <p:nvPr/>
        </p:nvSpPr>
        <p:spPr>
          <a:xfrm>
            <a:off x="-819807" y="1957909"/>
            <a:ext cx="14364593" cy="606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 algn="ctr" defTabSz="363220">
              <a:spcBef>
                <a:spcPts val="0"/>
              </a:spcBef>
              <a:defRPr sz="33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THE IDEAL ANALYSIS ANSWERS THESE QUESTIONS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679</Words>
  <Application>Microsoft Office PowerPoint</Application>
  <PresentationFormat>Custom</PresentationFormat>
  <Paragraphs>238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Helvetica Neue</vt:lpstr>
      <vt:lpstr>Helvetica Neue Light</vt:lpstr>
      <vt:lpstr>Helvetica Neue Medium</vt:lpstr>
      <vt:lpstr>White</vt:lpstr>
      <vt:lpstr>Project charter</vt:lpstr>
      <vt:lpstr>Problem statement </vt:lpstr>
      <vt:lpstr>SIPOC</vt:lpstr>
      <vt:lpstr>VOC</vt:lpstr>
      <vt:lpstr>VOC</vt:lpstr>
      <vt:lpstr>VOC TO CTQ</vt:lpstr>
      <vt:lpstr>VOC TO CTQ</vt:lpstr>
      <vt:lpstr>STAKEHOLDER ANALYSIS</vt:lpstr>
      <vt:lpstr>STAKEHOLDER ANALYSIS</vt:lpstr>
      <vt:lpstr>STAKEHOLDER ANALYSIS</vt:lpstr>
      <vt:lpstr>STAKEHOLDER ANALYSIS</vt:lpstr>
      <vt:lpstr>STAKEHOLDER ANALYSIS</vt:lpstr>
      <vt:lpstr>STAKEHOLDER ANALYSIS</vt:lpstr>
      <vt:lpstr>STAKEHOLDER ANALYSIS</vt:lpstr>
      <vt:lpstr>STAKEHOLDER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public</dc:creator>
  <cp:lastModifiedBy>Faisal AlFihri</cp:lastModifiedBy>
  <cp:revision>3</cp:revision>
  <dcterms:modified xsi:type="dcterms:W3CDTF">2026-04-30T17:20:30Z</dcterms:modified>
</cp:coreProperties>
</file>